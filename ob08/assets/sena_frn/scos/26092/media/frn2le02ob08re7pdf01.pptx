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9" r:id="rId5"/>
    <p:sldId id="258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79" d="100"/>
          <a:sy n="79" d="100"/>
        </p:scale>
        <p:origin x="1704" y="-576"/>
      </p:cViewPr>
      <p:guideLst>
        <p:guide orient="horz" pos="256"/>
        <p:guide pos="3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04-08-2015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395073" y="310506"/>
              <a:ext cx="2323277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Meeting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New People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395073" y="316856"/>
              <a:ext cx="2323277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Meeting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New People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395073" y="316856"/>
              <a:ext cx="2323277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Meeting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New People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395073" y="316856"/>
              <a:ext cx="2323277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Meeting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New People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541037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395073" y="316856"/>
              <a:ext cx="2323277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Meeting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New People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Exchange personal information about the home and family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08000" y="7556500"/>
            <a:ext cx="2921000" cy="685800"/>
          </a:xfrm>
        </p:spPr>
        <p:txBody>
          <a:bodyPr/>
          <a:lstStyle/>
          <a:p>
            <a:r>
              <a:rPr lang="en-US" dirty="0"/>
              <a:t>When do you fill out forms?</a:t>
            </a:r>
          </a:p>
          <a:p>
            <a:r>
              <a:rPr lang="en-US" dirty="0"/>
              <a:t>At school, at work</a:t>
            </a:r>
            <a:r>
              <a:rPr lang="en-US" dirty="0" smtClean="0"/>
              <a:t>?</a:t>
            </a:r>
          </a:p>
          <a:p>
            <a:pPr fontAlgn="ctr"/>
            <a:r>
              <a:rPr lang="en-CA" dirty="0"/>
              <a:t>What do you say in a job application?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write statements joined by and, or and but.</a:t>
            </a:r>
          </a:p>
          <a:p>
            <a:r>
              <a:rPr lang="en-US" dirty="0"/>
              <a:t>I can exchange personal information.</a:t>
            </a:r>
          </a:p>
          <a:p>
            <a:r>
              <a:rPr lang="en-US" dirty="0"/>
              <a:t>I can complete an application form for college or work.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69899" y="3244850"/>
            <a:ext cx="5583633" cy="412750"/>
          </a:xfrm>
        </p:spPr>
        <p:txBody>
          <a:bodyPr/>
          <a:lstStyle/>
          <a:p>
            <a:pPr marL="0" indent="0"/>
            <a:r>
              <a:rPr lang="en-US" dirty="0"/>
              <a:t>Writing Spot: Sally needs to fill out a job application form. She needs help!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107" y="3679091"/>
            <a:ext cx="2756264" cy="2530969"/>
          </a:xfrm>
        </p:spPr>
      </p:pic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Fill It out, Please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9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779" y="1920570"/>
            <a:ext cx="2649501" cy="2649501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I </a:t>
            </a:r>
            <a:r>
              <a:rPr lang="en-CA" dirty="0"/>
              <a:t>need to complete a job application form but I need a little help. The </a:t>
            </a:r>
            <a:r>
              <a:rPr lang="en-CA" dirty="0" smtClean="0"/>
              <a:t>		deadline </a:t>
            </a:r>
            <a:r>
              <a:rPr lang="en-CA" dirty="0"/>
              <a:t>is tomorrow!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	 	Really</a:t>
            </a:r>
            <a:r>
              <a:rPr lang="en-CA" dirty="0"/>
              <a:t>? Which job?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The </a:t>
            </a:r>
            <a:r>
              <a:rPr lang="en-CA" dirty="0"/>
              <a:t>job is for a waitress in the college coffee shop.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Why </a:t>
            </a:r>
            <a:r>
              <a:rPr lang="en-CA" dirty="0"/>
              <a:t>do you need help?</a:t>
            </a:r>
          </a:p>
          <a:p>
            <a:pPr defTabSz="989013">
              <a:tabLst>
                <a:tab pos="446088" algn="l"/>
                <a:tab pos="712788" algn="l"/>
              </a:tabLst>
            </a:pPr>
            <a:endParaRPr lang="en-CA" b="1" dirty="0" smtClean="0"/>
          </a:p>
          <a:p>
            <a:pPr defTabSz="989013">
              <a:tabLst>
                <a:tab pos="446088" algn="l"/>
                <a:tab pos="712788" algn="l"/>
              </a:tabLst>
            </a:pPr>
            <a:endParaRPr lang="en-CA" b="1" dirty="0" smtClean="0"/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I </a:t>
            </a:r>
            <a:r>
              <a:rPr lang="en-CA" dirty="0"/>
              <a:t>fill in my first name and last name, Sally Davis.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Yes</a:t>
            </a:r>
            <a:r>
              <a:rPr lang="en-CA" dirty="0"/>
              <a:t>, that’s right. What else?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Then </a:t>
            </a:r>
            <a:r>
              <a:rPr lang="en-CA" dirty="0"/>
              <a:t>I add my address, phone number and date of birth, but then it </a:t>
            </a:r>
            <a:r>
              <a:rPr lang="en-CA" dirty="0" smtClean="0"/>
              <a:t>		says </a:t>
            </a:r>
            <a:r>
              <a:rPr lang="en-CA" dirty="0"/>
              <a:t>past jobs and experience. Past jobs and experience?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Ah </a:t>
            </a:r>
            <a:r>
              <a:rPr lang="en-CA" dirty="0"/>
              <a:t>I see. That means your last job. Is this your first job application?</a:t>
            </a:r>
          </a:p>
          <a:p>
            <a:pPr defTabSz="989013">
              <a:tabLst>
                <a:tab pos="446088" algn="l"/>
                <a:tab pos="712788" algn="l"/>
              </a:tabLst>
            </a:pPr>
            <a:endParaRPr lang="en-CA" b="1" dirty="0" smtClean="0"/>
          </a:p>
          <a:p>
            <a:pPr defTabSz="989013">
              <a:tabLst>
                <a:tab pos="446088" algn="l"/>
                <a:tab pos="712788" algn="l"/>
              </a:tabLst>
            </a:pPr>
            <a:endParaRPr lang="en-CA" b="1" dirty="0"/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Yes</a:t>
            </a:r>
            <a:r>
              <a:rPr lang="en-CA" dirty="0"/>
              <a:t>! I am an online blogger. I work for myself. What do I write?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Well</a:t>
            </a:r>
            <a:r>
              <a:rPr lang="en-CA" dirty="0"/>
              <a:t>, write about being a blogger. 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Oh </a:t>
            </a:r>
            <a:r>
              <a:rPr lang="en-CA" dirty="0"/>
              <a:t>ok....Signature? What does that mean?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It </a:t>
            </a:r>
            <a:r>
              <a:rPr lang="en-CA" dirty="0"/>
              <a:t>means how you sign things like your name Sally Davis, in writing.</a:t>
            </a:r>
          </a:p>
          <a:p>
            <a:pPr defTabSz="989013">
              <a:tabLst>
                <a:tab pos="446088" algn="l"/>
                <a:tab pos="71278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Sally </a:t>
            </a:r>
            <a:r>
              <a:rPr lang="en-CA" dirty="0"/>
              <a:t>Davis or Sally the Blogger? Ha </a:t>
            </a:r>
            <a:r>
              <a:rPr lang="en-CA" dirty="0" err="1"/>
              <a:t>Ha</a:t>
            </a:r>
            <a:r>
              <a:rPr lang="en-CA" dirty="0"/>
              <a:t> just kidding.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CA" dirty="0" smtClean="0"/>
              <a:t>Instructions: Read the dialogue aloud.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 smtClean="0"/>
              <a:t>Sally </a:t>
            </a:r>
            <a:r>
              <a:rPr lang="en-CA" dirty="0"/>
              <a:t>has to fill in a form but she needs help. Who can help her?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Fill It out, Please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0576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482600" y="1916046"/>
            <a:ext cx="5848350" cy="228600"/>
          </a:xfrm>
        </p:spPr>
        <p:txBody>
          <a:bodyPr/>
          <a:lstStyle/>
          <a:p>
            <a:r>
              <a:rPr lang="en-CA" sz="1000" dirty="0"/>
              <a:t>Instructions: Draw a line from the </a:t>
            </a:r>
            <a:r>
              <a:rPr lang="en-CA" sz="1000" dirty="0" smtClean="0"/>
              <a:t>title on </a:t>
            </a:r>
            <a:r>
              <a:rPr lang="en-CA" sz="1000" dirty="0"/>
              <a:t>the left to </a:t>
            </a:r>
            <a:r>
              <a:rPr lang="en-CA" sz="1000" dirty="0" smtClean="0"/>
              <a:t>the personal information</a:t>
            </a:r>
          </a:p>
          <a:p>
            <a:r>
              <a:rPr lang="en-CA" sz="1000" dirty="0" smtClean="0"/>
              <a:t>on the </a:t>
            </a:r>
            <a:r>
              <a:rPr lang="en-CA" sz="1000" dirty="0" smtClean="0"/>
              <a:t>right.</a:t>
            </a:r>
            <a:r>
              <a:rPr lang="en-CA" sz="1000" dirty="0"/>
              <a:t/>
            </a:r>
            <a:br>
              <a:rPr lang="en-CA" sz="1000" dirty="0"/>
            </a:br>
            <a:endParaRPr lang="en-CA" sz="1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How do you fill in a form? Let’s find out!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CA" sz="1000" i="0" dirty="0"/>
              <a:t>Instructions: Complete the sentences. Write the missing word. Use </a:t>
            </a:r>
            <a:r>
              <a:rPr lang="en-CA" sz="1000" b="1" i="0" dirty="0" smtClean="0"/>
              <a:t>or, and</a:t>
            </a:r>
            <a:r>
              <a:rPr lang="en-CA" sz="1000" b="1" i="0" smtClean="0"/>
              <a:t>, </a:t>
            </a:r>
            <a:r>
              <a:rPr lang="en-CA" sz="1000" b="1" i="0" smtClean="0"/>
              <a:t>but</a:t>
            </a:r>
            <a:r>
              <a:rPr lang="en-CA" sz="1000" smtClean="0"/>
              <a:t>.</a:t>
            </a:r>
            <a:endParaRPr lang="en-CA" sz="1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69900" y="5109900"/>
            <a:ext cx="5861050" cy="412750"/>
          </a:xfrm>
        </p:spPr>
        <p:txBody>
          <a:bodyPr/>
          <a:lstStyle/>
          <a:p>
            <a:r>
              <a:rPr lang="en-CA" dirty="0"/>
              <a:t>Let’s practice connecting words and sentences.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Fill It out, Please</a:t>
            </a:r>
            <a:endParaRPr lang="en-US" sz="1200" dirty="0"/>
          </a:p>
        </p:txBody>
      </p:sp>
      <p:sp>
        <p:nvSpPr>
          <p:cNvPr id="2" name="Rectangle 1"/>
          <p:cNvSpPr/>
          <p:nvPr/>
        </p:nvSpPr>
        <p:spPr>
          <a:xfrm>
            <a:off x="469900" y="2504942"/>
            <a:ext cx="4203700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1. First and Last Name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endParaRPr lang="en-CA" sz="1100" dirty="0"/>
          </a:p>
          <a:p>
            <a:endParaRPr lang="en-CA" sz="1100" dirty="0" smtClean="0"/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2. Date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of Birth: </a:t>
            </a:r>
            <a:endParaRPr lang="en-CA" sz="1100" dirty="0"/>
          </a:p>
          <a:p>
            <a:endParaRPr lang="en-CA" sz="1100" dirty="0" smtClean="0"/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3. Address:</a:t>
            </a:r>
          </a:p>
          <a:p>
            <a:endParaRPr lang="en-CA" sz="1100" dirty="0" smtClean="0"/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4. Phone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Number: </a:t>
            </a:r>
            <a:endParaRPr lang="en-CA" sz="1100" dirty="0"/>
          </a:p>
          <a:p>
            <a:endParaRPr lang="en-CA" sz="1100" dirty="0" smtClean="0"/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5. Past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Job and Experience (How long</a:t>
            </a:r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?):</a:t>
            </a:r>
            <a:r>
              <a:rPr lang="en-CA" dirty="0"/>
              <a:t/>
            </a:r>
            <a:br>
              <a:rPr lang="en-CA" dirty="0"/>
            </a:br>
            <a:endParaRPr lang="en-CA" dirty="0"/>
          </a:p>
        </p:txBody>
      </p:sp>
      <p:sp>
        <p:nvSpPr>
          <p:cNvPr id="3" name="TextBox 2"/>
          <p:cNvSpPr txBox="1"/>
          <p:nvPr/>
        </p:nvSpPr>
        <p:spPr>
          <a:xfrm>
            <a:off x="4451685" y="2176396"/>
            <a:ext cx="18792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sz="1100" dirty="0"/>
          </a:p>
          <a:p>
            <a:r>
              <a:rPr lang="en-CA" sz="1100" dirty="0" smtClean="0">
                <a:latin typeface="+mj-lt"/>
              </a:rPr>
              <a:t>A. 20</a:t>
            </a:r>
            <a:r>
              <a:rPr lang="en-CA" sz="1100" baseline="30000" dirty="0" smtClean="0">
                <a:latin typeface="+mj-lt"/>
              </a:rPr>
              <a:t>th</a:t>
            </a:r>
            <a:r>
              <a:rPr lang="en-CA" sz="1100" dirty="0" smtClean="0">
                <a:latin typeface="+mj-lt"/>
              </a:rPr>
              <a:t> April 1980</a:t>
            </a:r>
          </a:p>
          <a:p>
            <a:endParaRPr lang="en-CA" sz="1100" dirty="0">
              <a:latin typeface="+mj-lt"/>
            </a:endParaRPr>
          </a:p>
          <a:p>
            <a:r>
              <a:rPr lang="en-CA" sz="1100" dirty="0" smtClean="0">
                <a:latin typeface="+mj-lt"/>
              </a:rPr>
              <a:t>B. Sally Davis</a:t>
            </a:r>
          </a:p>
          <a:p>
            <a:endParaRPr lang="en-CA" sz="1100" dirty="0">
              <a:latin typeface="+mj-lt"/>
            </a:endParaRPr>
          </a:p>
          <a:p>
            <a:r>
              <a:rPr lang="en-CA" sz="1100" dirty="0" smtClean="0">
                <a:latin typeface="+mj-lt"/>
              </a:rPr>
              <a:t>C. 545 342 5363</a:t>
            </a:r>
          </a:p>
          <a:p>
            <a:endParaRPr lang="en-CA" sz="1100" dirty="0">
              <a:latin typeface="+mj-lt"/>
            </a:endParaRPr>
          </a:p>
          <a:p>
            <a:r>
              <a:rPr lang="en-CA" sz="1100" dirty="0" smtClean="0">
                <a:latin typeface="+mj-lt"/>
              </a:rPr>
              <a:t>D. Online blogger, 3 years</a:t>
            </a:r>
          </a:p>
          <a:p>
            <a:endParaRPr lang="en-CA" sz="1100" dirty="0">
              <a:latin typeface="+mj-lt"/>
            </a:endParaRPr>
          </a:p>
          <a:p>
            <a:r>
              <a:rPr lang="en-CA" sz="1100" dirty="0" smtClean="0">
                <a:solidFill>
                  <a:srgbClr val="000000"/>
                </a:solidFill>
                <a:latin typeface="+mj-lt"/>
              </a:rPr>
              <a:t>E. 45 </a:t>
            </a:r>
            <a:r>
              <a:rPr lang="en-CA" sz="1100" dirty="0">
                <a:solidFill>
                  <a:srgbClr val="000000"/>
                </a:solidFill>
                <a:latin typeface="+mj-lt"/>
              </a:rPr>
              <a:t>Holly Street, Cambridge, Massachusetts, 3423</a:t>
            </a:r>
            <a:endParaRPr lang="en-CA" sz="1100" dirty="0">
              <a:latin typeface="+mj-lt"/>
            </a:endParaRPr>
          </a:p>
          <a:p>
            <a:endParaRPr lang="en-CA" sz="1100" dirty="0" smtClean="0">
              <a:latin typeface="+mj-lt"/>
            </a:endParaRPr>
          </a:p>
          <a:p>
            <a:endParaRPr lang="en-CA" sz="1100" dirty="0"/>
          </a:p>
          <a:p>
            <a:endParaRPr lang="en-CA" sz="1100" dirty="0"/>
          </a:p>
        </p:txBody>
      </p:sp>
      <p:sp>
        <p:nvSpPr>
          <p:cNvPr id="4" name="Rectangle 3"/>
          <p:cNvSpPr/>
          <p:nvPr/>
        </p:nvSpPr>
        <p:spPr>
          <a:xfrm>
            <a:off x="482600" y="6142855"/>
            <a:ext cx="3429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1. I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have to complete a job application form </a:t>
            </a:r>
            <a:r>
              <a:rPr lang="en-CA" sz="11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____</a:t>
            </a:r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I need a little help.</a:t>
            </a:r>
            <a:endParaRPr lang="en-CA" sz="1100" dirty="0"/>
          </a:p>
          <a:p>
            <a:endParaRPr lang="en-CA" sz="11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2. I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fill in my first name </a:t>
            </a:r>
            <a:r>
              <a:rPr lang="en-CA" sz="11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____</a:t>
            </a:r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last name…..Sally Jones</a:t>
            </a:r>
            <a:endParaRPr lang="en-CA" sz="1100" dirty="0"/>
          </a:p>
          <a:p>
            <a:endParaRPr lang="en-CA" sz="11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CA" sz="11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3. Sally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Jones </a:t>
            </a:r>
            <a:r>
              <a:rPr lang="en-CA" sz="11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_____</a:t>
            </a:r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Sally the Blogger?</a:t>
            </a:r>
            <a:endParaRPr lang="en-CA" sz="1100" dirty="0"/>
          </a:p>
          <a:p>
            <a:endParaRPr lang="en-CA" sz="1100" dirty="0" smtClean="0"/>
          </a:p>
          <a:p>
            <a:endParaRPr lang="en-CA" sz="1100" dirty="0"/>
          </a:p>
          <a:p>
            <a:r>
              <a:rPr lang="en-CA" sz="1100" dirty="0"/>
              <a:t/>
            </a:r>
            <a:br>
              <a:rPr lang="en-CA" sz="1100" dirty="0"/>
            </a:b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204814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3550" y="5820790"/>
            <a:ext cx="2882900" cy="1644650"/>
          </a:xfrm>
        </p:spPr>
        <p:txBody>
          <a:bodyPr/>
          <a:lstStyle/>
          <a:p>
            <a:r>
              <a:rPr lang="en-CA" b="1" dirty="0"/>
              <a:t>job application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a form you fill in to get a job </a:t>
            </a:r>
            <a:br>
              <a:rPr lang="en-CA" dirty="0"/>
            </a:br>
            <a:r>
              <a:rPr lang="en-CA" dirty="0" smtClean="0"/>
              <a:t>e.g. I </a:t>
            </a:r>
            <a:r>
              <a:rPr lang="en-CA" dirty="0"/>
              <a:t>need to complete a job application </a:t>
            </a:r>
            <a:r>
              <a:rPr lang="en-CA" dirty="0" smtClean="0"/>
              <a:t>form.</a:t>
            </a:r>
          </a:p>
          <a:p>
            <a:r>
              <a:rPr lang="en-CA" b="1" dirty="0" smtClean="0"/>
              <a:t>first </a:t>
            </a:r>
            <a:r>
              <a:rPr lang="en-CA" b="1" dirty="0"/>
              <a:t>name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given name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My </a:t>
            </a:r>
            <a:r>
              <a:rPr lang="en-CA" dirty="0"/>
              <a:t>first name is Sally. </a:t>
            </a:r>
            <a:endParaRPr lang="en-CA" dirty="0" smtClean="0"/>
          </a:p>
          <a:p>
            <a:r>
              <a:rPr lang="en-CA" b="1" dirty="0" smtClean="0"/>
              <a:t>last </a:t>
            </a:r>
            <a:r>
              <a:rPr lang="en-CA" b="1" dirty="0"/>
              <a:t>name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family name or surname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My </a:t>
            </a:r>
            <a:r>
              <a:rPr lang="en-CA" dirty="0"/>
              <a:t>last name is Jones. </a:t>
            </a:r>
          </a:p>
          <a:p>
            <a:r>
              <a:rPr lang="en-CA" b="1" dirty="0"/>
              <a:t>date of birth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birthday, when you were born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I </a:t>
            </a:r>
            <a:r>
              <a:rPr lang="en-CA" dirty="0"/>
              <a:t>was born on March 20th, 1985. </a:t>
            </a:r>
            <a:endParaRPr lang="en-CA" dirty="0" smtClean="0"/>
          </a:p>
          <a:p>
            <a:r>
              <a:rPr lang="en-CA" b="1" dirty="0" smtClean="0"/>
              <a:t>address</a:t>
            </a:r>
            <a:r>
              <a:rPr lang="en-CA" dirty="0" smtClean="0"/>
              <a:t>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where you live, spend most of your time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435 </a:t>
            </a:r>
            <a:r>
              <a:rPr lang="en-CA" dirty="0"/>
              <a:t>Allandale Rd, Cambridge, Massachusetts, 4525.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24250" y="5820790"/>
            <a:ext cx="2978150" cy="1644650"/>
          </a:xfrm>
        </p:spPr>
        <p:txBody>
          <a:bodyPr/>
          <a:lstStyle/>
          <a:p>
            <a:r>
              <a:rPr lang="en-CA" b="1" dirty="0"/>
              <a:t>signature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a unique way to write your name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I </a:t>
            </a:r>
            <a:r>
              <a:rPr lang="en-CA" dirty="0"/>
              <a:t>need your signature, Sally. </a:t>
            </a:r>
            <a:endParaRPr lang="en-CA" dirty="0" smtClean="0"/>
          </a:p>
          <a:p>
            <a:r>
              <a:rPr lang="en-CA" b="1" dirty="0" smtClean="0"/>
              <a:t>form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where you fill in personal information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I </a:t>
            </a:r>
            <a:r>
              <a:rPr lang="en-CA" dirty="0"/>
              <a:t>need to fill in the form. </a:t>
            </a:r>
          </a:p>
          <a:p>
            <a:r>
              <a:rPr lang="en-CA" b="1" dirty="0"/>
              <a:t>deadline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when something is due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The </a:t>
            </a:r>
            <a:r>
              <a:rPr lang="en-CA" dirty="0"/>
              <a:t>deadline is tomorrow! </a:t>
            </a:r>
            <a:endParaRPr lang="en-CA" dirty="0" smtClean="0"/>
          </a:p>
          <a:p>
            <a:r>
              <a:rPr lang="en-CA" b="1" dirty="0" smtClean="0"/>
              <a:t>to </a:t>
            </a:r>
            <a:r>
              <a:rPr lang="en-CA" b="1" dirty="0"/>
              <a:t>complete </a:t>
            </a:r>
            <a:r>
              <a:rPr lang="en-CA" dirty="0"/>
              <a:t>(verb</a:t>
            </a:r>
            <a:r>
              <a:rPr lang="en-CA" dirty="0" smtClean="0"/>
              <a:t>): </a:t>
            </a:r>
            <a:r>
              <a:rPr lang="en-CA" dirty="0"/>
              <a:t>to fill in every item in a form 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I </a:t>
            </a:r>
            <a:r>
              <a:rPr lang="en-CA" dirty="0"/>
              <a:t>need to complete this form. The deadline is tomorrow! 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Fill It out, Please</a:t>
            </a:r>
            <a:endParaRPr lang="en-US" sz="1200" dirty="0"/>
          </a:p>
        </p:txBody>
      </p:sp>
      <p:sp>
        <p:nvSpPr>
          <p:cNvPr id="7" name="TextBox 4"/>
          <p:cNvSpPr txBox="1"/>
          <p:nvPr/>
        </p:nvSpPr>
        <p:spPr>
          <a:xfrm>
            <a:off x="512115" y="2460030"/>
            <a:ext cx="2910594" cy="925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US" sz="1000" dirty="0" smtClean="0"/>
              <a:t>Talk to a </a:t>
            </a:r>
            <a:r>
              <a:rPr lang="en-US" sz="1000" dirty="0"/>
              <a:t>friend or family </a:t>
            </a:r>
            <a:r>
              <a:rPr lang="en-US" sz="1000" dirty="0" smtClean="0"/>
              <a:t>member.</a:t>
            </a: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Ask them questions in English on items in the table.</a:t>
            </a:r>
          </a:p>
          <a:p>
            <a:pPr marL="228600" lvl="0" indent="-228600" algn="l" defTabSz="685800">
              <a:lnSpc>
                <a:spcPct val="90000"/>
              </a:lnSpc>
              <a:buFont typeface="+mj-lt"/>
              <a:buAutoNum type="alphaLcParenR"/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Complete the table.</a:t>
            </a:r>
          </a:p>
        </p:txBody>
      </p:sp>
      <p:grpSp>
        <p:nvGrpSpPr>
          <p:cNvPr id="8" name="Grupo 1"/>
          <p:cNvGrpSpPr/>
          <p:nvPr/>
        </p:nvGrpSpPr>
        <p:grpSpPr>
          <a:xfrm>
            <a:off x="3524250" y="2442378"/>
            <a:ext cx="2910781" cy="1892667"/>
            <a:chOff x="3448051" y="2431712"/>
            <a:chExt cx="2904574" cy="1888630"/>
          </a:xfrm>
        </p:grpSpPr>
        <p:grpSp>
          <p:nvGrpSpPr>
            <p:cNvPr id="9" name="Group 5"/>
            <p:cNvGrpSpPr/>
            <p:nvPr/>
          </p:nvGrpSpPr>
          <p:grpSpPr>
            <a:xfrm>
              <a:off x="5507177" y="2550329"/>
              <a:ext cx="701770" cy="1615390"/>
              <a:chOff x="5507177" y="6341645"/>
              <a:chExt cx="701770" cy="1615390"/>
            </a:xfrm>
          </p:grpSpPr>
          <p:sp>
            <p:nvSpPr>
              <p:cNvPr id="12" name="Shape 193"/>
              <p:cNvSpPr/>
              <p:nvPr/>
            </p:nvSpPr>
            <p:spPr>
              <a:xfrm>
                <a:off x="5507177" y="6341645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Y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es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Shape 194"/>
              <p:cNvSpPr/>
              <p:nvPr/>
            </p:nvSpPr>
            <p:spPr>
              <a:xfrm>
                <a:off x="5928147" y="6348117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N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o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Shape 200"/>
              <p:cNvSpPr/>
              <p:nvPr/>
            </p:nvSpPr>
            <p:spPr>
              <a:xfrm>
                <a:off x="5516805" y="6769551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Shape 201"/>
              <p:cNvSpPr/>
              <p:nvPr/>
            </p:nvSpPr>
            <p:spPr>
              <a:xfrm>
                <a:off x="5934497" y="6767580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 202"/>
              <p:cNvSpPr/>
              <p:nvPr/>
            </p:nvSpPr>
            <p:spPr>
              <a:xfrm>
                <a:off x="5513529" y="7211324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7" name="Shape 203"/>
              <p:cNvSpPr/>
              <p:nvPr/>
            </p:nvSpPr>
            <p:spPr>
              <a:xfrm>
                <a:off x="5933102" y="7209750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" name="Shape 204"/>
              <p:cNvSpPr/>
              <p:nvPr/>
            </p:nvSpPr>
            <p:spPr>
              <a:xfrm>
                <a:off x="5537747" y="7687035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" name="Shape 205"/>
              <p:cNvSpPr/>
              <p:nvPr/>
            </p:nvSpPr>
            <p:spPr>
              <a:xfrm>
                <a:off x="5939708" y="7674545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10" name="Shape 225"/>
            <p:cNvSpPr/>
            <p:nvPr/>
          </p:nvSpPr>
          <p:spPr>
            <a:xfrm>
              <a:off x="3486897" y="2602735"/>
              <a:ext cx="1878948" cy="16661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685800">
                <a:buSzPct val="100000"/>
              </a:pPr>
              <a:r>
                <a: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Self Assessment</a:t>
              </a: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US" sz="1000" dirty="0"/>
                <a:t>I interview a friend or family member.</a:t>
              </a:r>
              <a:endParaRPr lang="en-CA" sz="1000" dirty="0" smtClean="0">
                <a:latin typeface="Verdana"/>
                <a:ea typeface="Myriad Pro"/>
                <a:cs typeface="Verdana"/>
                <a:sym typeface="Myriad Pro"/>
              </a:endParaRP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CA" sz="1000" dirty="0"/>
                <a:t>I complete </a:t>
              </a:r>
              <a:r>
                <a:rPr lang="en-CA" sz="1000" dirty="0" smtClean="0"/>
                <a:t>a table</a:t>
              </a:r>
              <a:r>
                <a:rPr lang="en-CA" sz="1000" dirty="0"/>
                <a:t> </a:t>
              </a:r>
              <a:r>
                <a:rPr lang="en-CA" sz="1000" dirty="0" smtClean="0"/>
                <a:t>about personal information.</a:t>
              </a:r>
              <a:endParaRPr lang="en-CA" sz="1000" dirty="0">
                <a:ea typeface="Myriad Pro"/>
                <a:cs typeface="Verdana"/>
                <a:sym typeface="Myriad Pro"/>
              </a:endParaRP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CA" sz="1000" dirty="0"/>
                <a:t>I use capital </a:t>
              </a:r>
              <a:r>
                <a:rPr lang="en-CA" sz="1000" dirty="0" smtClean="0"/>
                <a:t>letters</a:t>
              </a:r>
              <a:r>
                <a:rPr lang="en-CA" sz="1000" dirty="0"/>
                <a:t> </a:t>
              </a:r>
              <a:r>
                <a:rPr lang="en-CA" sz="1000" dirty="0" smtClean="0"/>
                <a:t>when I write names and addresses.</a:t>
              </a:r>
              <a:endParaRPr lang="en-CA" sz="1000" dirty="0" smtClean="0">
                <a:ea typeface="Myriad Pro"/>
                <a:cs typeface="Verdana"/>
                <a:sym typeface="Myriad Pro"/>
              </a:endParaRPr>
            </a:p>
          </p:txBody>
        </p:sp>
        <p:sp>
          <p:nvSpPr>
            <p:cNvPr id="11" name="Rounded Rectangle 6"/>
            <p:cNvSpPr/>
            <p:nvPr/>
          </p:nvSpPr>
          <p:spPr>
            <a:xfrm>
              <a:off x="3448051" y="2431712"/>
              <a:ext cx="2904574" cy="1888630"/>
            </a:xfrm>
            <a:prstGeom prst="roundRect">
              <a:avLst>
                <a:gd name="adj" fmla="val 11375"/>
              </a:avLst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0" name="Rectangle 3"/>
          <p:cNvSpPr/>
          <p:nvPr/>
        </p:nvSpPr>
        <p:spPr>
          <a:xfrm>
            <a:off x="495027" y="1641534"/>
            <a:ext cx="5282412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Job Application </a:t>
            </a:r>
            <a:r>
              <a:rPr lang="en-US" sz="1100" dirty="0" smtClean="0"/>
              <a:t>Form</a:t>
            </a:r>
          </a:p>
          <a:p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Instructions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CA" sz="1000" i="1" dirty="0"/>
              <a:t>Help your friend or family member fill out a job application form</a:t>
            </a:r>
            <a:r>
              <a:rPr lang="en-CA" sz="1000" i="1" dirty="0" smtClean="0"/>
              <a:t>.</a:t>
            </a:r>
          </a:p>
          <a:p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steps. Fill in the Self Assessment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400355"/>
              </p:ext>
            </p:extLst>
          </p:nvPr>
        </p:nvGraphicFramePr>
        <p:xfrm>
          <a:off x="586089" y="3517795"/>
          <a:ext cx="2804383" cy="17777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602"/>
                <a:gridCol w="1565781"/>
              </a:tblGrid>
              <a:tr h="245513">
                <a:tc>
                  <a:txBody>
                    <a:bodyPr/>
                    <a:lstStyle/>
                    <a:p>
                      <a:r>
                        <a:rPr lang="en-CA" sz="1000" b="1" dirty="0" smtClean="0"/>
                        <a:t>First Name</a:t>
                      </a:r>
                      <a:endParaRPr lang="en-CA" sz="10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/>
                </a:tc>
              </a:tr>
              <a:tr h="246593">
                <a:tc>
                  <a:txBody>
                    <a:bodyPr/>
                    <a:lstStyle/>
                    <a:p>
                      <a:r>
                        <a:rPr lang="en-CA" sz="1000" b="1" dirty="0" smtClean="0"/>
                        <a:t>Last Name</a:t>
                      </a:r>
                      <a:endParaRPr lang="en-CA" sz="10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/>
                </a:tc>
              </a:tr>
              <a:tr h="246594">
                <a:tc>
                  <a:txBody>
                    <a:bodyPr/>
                    <a:lstStyle/>
                    <a:p>
                      <a:r>
                        <a:rPr lang="en-CA" sz="1000" b="1" dirty="0" smtClean="0"/>
                        <a:t>Date of Birth</a:t>
                      </a:r>
                      <a:endParaRPr lang="en-CA" sz="10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/>
                </a:tc>
              </a:tr>
              <a:tr h="246594">
                <a:tc>
                  <a:txBody>
                    <a:bodyPr/>
                    <a:lstStyle/>
                    <a:p>
                      <a:r>
                        <a:rPr lang="en-CA" sz="1000" b="1" dirty="0" smtClean="0"/>
                        <a:t>Address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/>
                </a:tc>
              </a:tr>
              <a:tr h="258923">
                <a:tc>
                  <a:txBody>
                    <a:bodyPr/>
                    <a:lstStyle/>
                    <a:p>
                      <a:r>
                        <a:rPr lang="en-CA" sz="1000" b="1" dirty="0" smtClean="0"/>
                        <a:t>Phone Number</a:t>
                      </a:r>
                      <a:endParaRPr lang="en-CA" sz="10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/>
                </a:tc>
              </a:tr>
              <a:tr h="221934">
                <a:tc>
                  <a:txBody>
                    <a:bodyPr/>
                    <a:lstStyle/>
                    <a:p>
                      <a:r>
                        <a:rPr lang="en-CA" sz="1000" b="1" dirty="0" smtClean="0"/>
                        <a:t>Past</a:t>
                      </a:r>
                      <a:r>
                        <a:rPr lang="en-CA" sz="1000" b="1" baseline="0" dirty="0" smtClean="0"/>
                        <a:t> Jobs and Experience</a:t>
                      </a:r>
                      <a:endParaRPr lang="en-CA" sz="1000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17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CA" b="1" dirty="0"/>
              <a:t>Connectors And, Or, But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69900" y="1968500"/>
            <a:ext cx="5654453" cy="1098698"/>
          </a:xfrm>
        </p:spPr>
        <p:txBody>
          <a:bodyPr/>
          <a:lstStyle/>
          <a:p>
            <a:r>
              <a:rPr lang="en-CA" dirty="0"/>
              <a:t>You use connectors to join words and phrases. They are usually found in the middle of a sentence.</a:t>
            </a:r>
          </a:p>
          <a:p>
            <a:endParaRPr lang="en-CA" dirty="0" smtClean="0"/>
          </a:p>
          <a:p>
            <a:r>
              <a:rPr lang="en-CA" dirty="0" smtClean="0"/>
              <a:t>They </a:t>
            </a:r>
            <a:r>
              <a:rPr lang="en-CA" dirty="0"/>
              <a:t>connect ideas or sentences together.</a:t>
            </a:r>
          </a:p>
          <a:p>
            <a:endParaRPr lang="en-CA" u="sng" dirty="0" smtClean="0"/>
          </a:p>
          <a:p>
            <a:r>
              <a:rPr lang="en-CA" u="sng" dirty="0" smtClean="0"/>
              <a:t>And</a:t>
            </a:r>
            <a:r>
              <a:rPr lang="en-CA" dirty="0"/>
              <a:t>: to use when statements or ideas are similar.</a:t>
            </a:r>
            <a:br>
              <a:rPr lang="en-CA" dirty="0"/>
            </a:br>
            <a:r>
              <a:rPr lang="en-CA" u="sng" dirty="0"/>
              <a:t>But</a:t>
            </a:r>
            <a:r>
              <a:rPr lang="en-CA" dirty="0" smtClean="0"/>
              <a:t>: to </a:t>
            </a:r>
            <a:r>
              <a:rPr lang="en-CA" dirty="0"/>
              <a:t>use to connect statements that express opposite ideas.</a:t>
            </a:r>
            <a:br>
              <a:rPr lang="en-CA" dirty="0"/>
            </a:br>
            <a:r>
              <a:rPr lang="en-CA" u="sng" dirty="0"/>
              <a:t>Or</a:t>
            </a:r>
            <a:r>
              <a:rPr lang="en-CA" dirty="0" smtClean="0"/>
              <a:t>: gives </a:t>
            </a:r>
            <a:r>
              <a:rPr lang="en-CA" dirty="0"/>
              <a:t>options or choices.</a:t>
            </a:r>
          </a:p>
          <a:p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Fill It out, Please</a:t>
            </a:r>
            <a:endParaRPr lang="en-US" sz="1200" dirty="0"/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469900" y="3522573"/>
            <a:ext cx="5654453" cy="1098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/>
              <a:t>Examples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i="1" dirty="0"/>
              <a:t>I fill in my first name and last name.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i="1" dirty="0"/>
              <a:t>I need to complete a job application form but I need a little help.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i="1" dirty="0"/>
              <a:t>Sally Jones or Sally the Blogger?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-198593"/>
            <a:ext cx="92398" cy="3971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9144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25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="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1856</TotalTime>
  <Words>492</Words>
  <Application>Microsoft Office PowerPoint</Application>
  <PresentationFormat>On-screen Show (4:3)</PresentationFormat>
  <Paragraphs>106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Helvetica</vt:lpstr>
      <vt:lpstr>Helvetica Neue</vt:lpstr>
      <vt:lpstr>Myriad Pro</vt:lpstr>
      <vt:lpstr>Myriad Pro Semibold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Natalie Ryan</cp:lastModifiedBy>
  <cp:revision>145</cp:revision>
  <cp:lastPrinted>2015-07-16T15:48:24Z</cp:lastPrinted>
  <dcterms:created xsi:type="dcterms:W3CDTF">2015-07-06T14:08:02Z</dcterms:created>
  <dcterms:modified xsi:type="dcterms:W3CDTF">2015-08-04T15:32:09Z</dcterms:modified>
</cp:coreProperties>
</file>